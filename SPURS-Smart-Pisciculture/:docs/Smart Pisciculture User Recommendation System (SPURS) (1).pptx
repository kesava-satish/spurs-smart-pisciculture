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60" r:id="rId4"/>
    <p:sldId id="258" r:id="rId5"/>
    <p:sldId id="261" r:id="rId6"/>
    <p:sldId id="271" r:id="rId7"/>
    <p:sldId id="266" r:id="rId8"/>
    <p:sldId id="262" r:id="rId9"/>
    <p:sldId id="269" r:id="rId10"/>
    <p:sldId id="270" r:id="rId11"/>
    <p:sldId id="263" r:id="rId12"/>
    <p:sldId id="284" r:id="rId13"/>
    <p:sldId id="273" r:id="rId14"/>
    <p:sldId id="25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p:restoredTop sz="94264" autoAdjust="0"/>
  </p:normalViewPr>
  <p:slideViewPr>
    <p:cSldViewPr>
      <p:cViewPr varScale="1">
        <p:scale>
          <a:sx n="105" d="100"/>
          <a:sy n="105" d="100"/>
        </p:scale>
        <p:origin x="110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2C3EE3-1447-478F-B208-FDB55A4819E4}" type="datetimeFigureOut">
              <a:rPr lang="en-US" smtClean="0"/>
              <a:t>4/24/24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2D77FB-F2CB-418E-A3AF-BA78FFF40B87}" type="slidenum">
              <a:rPr lang="en-US" smtClean="0"/>
              <a:t>‹#›</a:t>
            </a:fld>
            <a:endParaRPr lang="en-US"/>
          </a:p>
        </p:txBody>
      </p:sp>
    </p:spTree>
    <p:extLst>
      <p:ext uri="{BB962C8B-B14F-4D97-AF65-F5344CB8AC3E}">
        <p14:creationId xmlns:p14="http://schemas.microsoft.com/office/powerpoint/2010/main" val="3823285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2D77FB-F2CB-418E-A3AF-BA78FFF40B87}" type="slidenum">
              <a:rPr lang="en-US" smtClean="0"/>
              <a:t>1</a:t>
            </a:fld>
            <a:endParaRPr lang="en-US"/>
          </a:p>
        </p:txBody>
      </p:sp>
    </p:spTree>
    <p:extLst>
      <p:ext uri="{BB962C8B-B14F-4D97-AF65-F5344CB8AC3E}">
        <p14:creationId xmlns:p14="http://schemas.microsoft.com/office/powerpoint/2010/main" val="896325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EAB0777-4C60-462E-A92C-CDAFD498799C}" type="datetimeFigureOut">
              <a:rPr lang="en-US" smtClean="0"/>
              <a:t>4/24/24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9DE6EB8-52AB-45EA-A660-3E1EBFA7298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AB0777-4C60-462E-A92C-CDAFD498799C}"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EAB0777-4C60-462E-A92C-CDAFD498799C}"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E6EB8-52AB-45EA-A660-3E1EBFA7298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EAB0777-4C60-462E-A92C-CDAFD498799C}"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EAB0777-4C60-462E-A92C-CDAFD498799C}" type="datetimeFigureOut">
              <a:rPr lang="en-US" smtClean="0"/>
              <a:t>4/24/24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0EAB0777-4C60-462E-A92C-CDAFD498799C}" type="datetimeFigureOut">
              <a:rPr lang="en-US" smtClean="0"/>
              <a:t>4/24/24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B0777-4C60-462E-A92C-CDAFD498799C}" type="datetimeFigureOut">
              <a:rPr lang="en-US" smtClean="0"/>
              <a:t>4/24/24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EAB0777-4C60-462E-A92C-CDAFD498799C}"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EAB0777-4C60-462E-A92C-CDAFD498799C}" type="datetimeFigureOut">
              <a:rPr lang="en-US" smtClean="0"/>
              <a:t>4/24/24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9DE6EB8-52AB-45EA-A660-3E1EBFA7298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AB0777-4C60-462E-A92C-CDAFD498799C}"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AB0777-4C60-462E-A92C-CDAFD498799C}" type="datetimeFigureOut">
              <a:rPr lang="en-US" smtClean="0"/>
              <a:t>4/24/24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E6EB8-52AB-45EA-A660-3E1EBFA7298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EAB0777-4C60-462E-A92C-CDAFD498799C}" type="datetimeFigureOut">
              <a:rPr lang="en-US" smtClean="0"/>
              <a:t>4/24/24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9DE6EB8-52AB-45EA-A660-3E1EBFA7298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34091423_IoT_Based_Automated_Fish_Farm_Aquaculture_Monitoring_System" TargetMode="External"/><Relationship Id="rId2" Type="http://schemas.openxmlformats.org/officeDocument/2006/relationships/hyperlink" Target="https://www.mdpi.com/1424-8220/22/17/6700" TargetMode="External"/><Relationship Id="rId1" Type="http://schemas.openxmlformats.org/officeDocument/2006/relationships/slideLayout" Target="../slideLayouts/slideLayout2.xml"/><Relationship Id="rId5" Type="http://schemas.openxmlformats.org/officeDocument/2006/relationships/hyperlink" Target="https://www.sciencedirect.com/science/article/pii/S2666154322000904" TargetMode="External"/><Relationship Id="rId4" Type="http://schemas.openxmlformats.org/officeDocument/2006/relationships/hyperlink" Target="https://aip.scitation.org/doi/pdf/10.1063/5.007441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52400" y="4179332"/>
            <a:ext cx="3200400" cy="1307068"/>
          </a:xfrm>
        </p:spPr>
        <p:txBody>
          <a:bodyPr>
            <a:normAutofit/>
          </a:bodyPr>
          <a:lstStyle/>
          <a:p>
            <a:pPr algn="ctr"/>
            <a:r>
              <a:rPr lang="pt-BR" sz="1200" dirty="0">
                <a:latin typeface="Arial" panose="020B0604020202020204" pitchFamily="34" charset="0"/>
                <a:cs typeface="Arial" panose="020B0604020202020204" pitchFamily="34" charset="0"/>
              </a:rPr>
              <a:t>Dr. R. Sriranjani, SAP</a:t>
            </a:r>
          </a:p>
          <a:p>
            <a:pPr algn="ctr"/>
            <a:r>
              <a:rPr lang="en-IN" sz="1200" dirty="0" err="1">
                <a:latin typeface="Arial" panose="020B0604020202020204" pitchFamily="34" charset="0"/>
                <a:cs typeface="Arial" panose="020B0604020202020204" pitchFamily="34" charset="0"/>
              </a:rPr>
              <a:t>Dr.</a:t>
            </a:r>
            <a:r>
              <a:rPr lang="en-IN" sz="1200" dirty="0">
                <a:latin typeface="Arial" panose="020B0604020202020204" pitchFamily="34" charset="0"/>
                <a:cs typeface="Arial" panose="020B0604020202020204" pitchFamily="34" charset="0"/>
              </a:rPr>
              <a:t> N. </a:t>
            </a:r>
            <a:r>
              <a:rPr lang="en-IN" sz="1200" dirty="0" err="1">
                <a:latin typeface="Arial" panose="020B0604020202020204" pitchFamily="34" charset="0"/>
                <a:cs typeface="Arial" panose="020B0604020202020204" pitchFamily="34" charset="0"/>
              </a:rPr>
              <a:t>Hemavathi</a:t>
            </a:r>
            <a:r>
              <a:rPr lang="en-IN" sz="1200" dirty="0">
                <a:latin typeface="Arial" panose="020B0604020202020204" pitchFamily="34" charset="0"/>
                <a:cs typeface="Arial" panose="020B0604020202020204" pitchFamily="34" charset="0"/>
              </a:rPr>
              <a:t>, APIII</a:t>
            </a:r>
          </a:p>
          <a:p>
            <a:pPr algn="ctr"/>
            <a:r>
              <a:rPr lang="pt-BR" sz="1200" dirty="0">
                <a:latin typeface="Arial" panose="020B0604020202020204" pitchFamily="34" charset="0"/>
                <a:cs typeface="Arial" panose="020B0604020202020204" pitchFamily="34" charset="0"/>
              </a:rPr>
              <a:t>Kesava Satish Boppana, UG student</a:t>
            </a:r>
          </a:p>
          <a:p>
            <a:pPr algn="ctr"/>
            <a:r>
              <a:rPr lang="pt-BR" sz="1200" dirty="0">
                <a:latin typeface="Arial" panose="020B0604020202020204" pitchFamily="34" charset="0"/>
                <a:cs typeface="Arial" panose="020B0604020202020204" pitchFamily="34" charset="0"/>
              </a:rPr>
              <a:t>S Akkshya Balaji, UG student</a:t>
            </a:r>
          </a:p>
          <a:p>
            <a:pPr algn="ctr"/>
            <a:r>
              <a:rPr lang="pt-BR" sz="1200" dirty="0">
                <a:latin typeface="Arial" panose="020B0604020202020204" pitchFamily="34" charset="0"/>
                <a:cs typeface="Arial" panose="020B0604020202020204" pitchFamily="34" charset="0"/>
              </a:rPr>
              <a:t>B.H.V.G.Saisriram, UG student</a:t>
            </a:r>
            <a:endParaRPr 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FF09A87-234C-7158-279E-C21C07A97E6C}"/>
              </a:ext>
            </a:extLst>
          </p:cNvPr>
          <p:cNvSpPr txBox="1"/>
          <p:nvPr/>
        </p:nvSpPr>
        <p:spPr>
          <a:xfrm>
            <a:off x="838200" y="3733800"/>
            <a:ext cx="1664855" cy="338554"/>
          </a:xfrm>
          <a:prstGeom prst="rect">
            <a:avLst/>
          </a:prstGeom>
          <a:noFill/>
        </p:spPr>
        <p:txBody>
          <a:bodyPr wrap="square">
            <a:spAutoFit/>
          </a:bodyPr>
          <a:lstStyle/>
          <a:p>
            <a:pPr algn="l"/>
            <a:r>
              <a:rPr lang="en-US" sz="1600" dirty="0">
                <a:latin typeface="Arial" panose="020B0604020202020204" pitchFamily="34" charset="0"/>
                <a:cs typeface="Arial" panose="020B0604020202020204" pitchFamily="34" charset="0"/>
              </a:rPr>
              <a:t>Authors</a:t>
            </a:r>
            <a:endParaRPr lang="en-IN" sz="1600" dirty="0"/>
          </a:p>
        </p:txBody>
      </p:sp>
      <p:sp>
        <p:nvSpPr>
          <p:cNvPr id="11" name="TextBox 10">
            <a:extLst>
              <a:ext uri="{FF2B5EF4-FFF2-40B4-BE49-F238E27FC236}">
                <a16:creationId xmlns:a16="http://schemas.microsoft.com/office/drawing/2014/main" id="{97E81A9A-A79B-96D5-7206-AC79A5958739}"/>
              </a:ext>
            </a:extLst>
          </p:cNvPr>
          <p:cNvSpPr txBox="1"/>
          <p:nvPr/>
        </p:nvSpPr>
        <p:spPr>
          <a:xfrm>
            <a:off x="-842818" y="5486400"/>
            <a:ext cx="4581236" cy="738664"/>
          </a:xfrm>
          <a:prstGeom prst="rect">
            <a:avLst/>
          </a:prstGeom>
          <a:noFill/>
        </p:spPr>
        <p:txBody>
          <a:bodyPr wrap="square">
            <a:spAutoFit/>
          </a:bodyPr>
          <a:lstStyle/>
          <a:p>
            <a:pPr algn="ctr"/>
            <a:r>
              <a:rPr lang="en-US" sz="1400" dirty="0">
                <a:latin typeface="Arial" panose="020B0604020202020204" pitchFamily="34" charset="0"/>
                <a:cs typeface="Arial" panose="020B0604020202020204" pitchFamily="34" charset="0"/>
              </a:rPr>
              <a:t>School of EEE,</a:t>
            </a:r>
          </a:p>
          <a:p>
            <a:pPr algn="ctr"/>
            <a:r>
              <a:rPr lang="en-US" sz="1400" dirty="0">
                <a:latin typeface="Arial" panose="020B0604020202020204" pitchFamily="34" charset="0"/>
                <a:cs typeface="Arial" panose="020B0604020202020204" pitchFamily="34" charset="0"/>
              </a:rPr>
              <a:t>SASTRA Deemed to be University,</a:t>
            </a:r>
          </a:p>
          <a:p>
            <a:pPr algn="ctr"/>
            <a:r>
              <a:rPr lang="en-US" sz="1400" dirty="0">
                <a:latin typeface="Arial" panose="020B0604020202020204" pitchFamily="34" charset="0"/>
                <a:cs typeface="Arial" panose="020B0604020202020204" pitchFamily="34" charset="0"/>
              </a:rPr>
              <a:t>Thanjavur</a:t>
            </a:r>
          </a:p>
        </p:txBody>
      </p:sp>
      <p:sp>
        <p:nvSpPr>
          <p:cNvPr id="3" name="TextBox 2">
            <a:extLst>
              <a:ext uri="{FF2B5EF4-FFF2-40B4-BE49-F238E27FC236}">
                <a16:creationId xmlns:a16="http://schemas.microsoft.com/office/drawing/2014/main" id="{0FC814F3-5DB6-FBDC-66A8-42833B4DE6DC}"/>
              </a:ext>
            </a:extLst>
          </p:cNvPr>
          <p:cNvSpPr txBox="1"/>
          <p:nvPr/>
        </p:nvSpPr>
        <p:spPr>
          <a:xfrm>
            <a:off x="6096000" y="3657601"/>
            <a:ext cx="1664855" cy="338554"/>
          </a:xfrm>
          <a:prstGeom prst="rect">
            <a:avLst/>
          </a:prstGeom>
          <a:noFill/>
        </p:spPr>
        <p:txBody>
          <a:bodyPr wrap="square">
            <a:spAutoFit/>
          </a:bodyPr>
          <a:lstStyle/>
          <a:p>
            <a:pPr algn="l"/>
            <a:r>
              <a:rPr lang="en-US" sz="1600" dirty="0">
                <a:latin typeface="Arial" panose="020B0604020202020204" pitchFamily="34" charset="0"/>
                <a:cs typeface="Arial" panose="020B0604020202020204" pitchFamily="34" charset="0"/>
              </a:rPr>
              <a:t>Presented by</a:t>
            </a:r>
            <a:endParaRPr lang="en-IN" sz="1600" dirty="0"/>
          </a:p>
        </p:txBody>
      </p:sp>
      <p:sp>
        <p:nvSpPr>
          <p:cNvPr id="6" name="TextBox 5">
            <a:extLst>
              <a:ext uri="{FF2B5EF4-FFF2-40B4-BE49-F238E27FC236}">
                <a16:creationId xmlns:a16="http://schemas.microsoft.com/office/drawing/2014/main" id="{19603205-E552-49D7-8AA7-69046168BCD8}"/>
              </a:ext>
            </a:extLst>
          </p:cNvPr>
          <p:cNvSpPr txBox="1"/>
          <p:nvPr/>
        </p:nvSpPr>
        <p:spPr>
          <a:xfrm>
            <a:off x="4343400" y="4062235"/>
            <a:ext cx="4996872" cy="1169551"/>
          </a:xfrm>
          <a:prstGeom prst="rect">
            <a:avLst/>
          </a:prstGeom>
          <a:noFill/>
        </p:spPr>
        <p:txBody>
          <a:bodyPr wrap="square">
            <a:spAutoFit/>
          </a:bodyPr>
          <a:lstStyle/>
          <a:p>
            <a:pPr algn="ctr"/>
            <a:r>
              <a:rPr lang="pt-BR" sz="1400" dirty="0">
                <a:latin typeface="Arial" panose="020B0604020202020204" pitchFamily="34" charset="0"/>
                <a:cs typeface="Arial" panose="020B0604020202020204" pitchFamily="34" charset="0"/>
              </a:rPr>
              <a:t>Kesava Satish Boppana,</a:t>
            </a:r>
          </a:p>
          <a:p>
            <a:pPr algn="ctr"/>
            <a:r>
              <a:rPr lang="en-US" sz="1400" dirty="0">
                <a:latin typeface="Arial" panose="020B0604020202020204" pitchFamily="34" charset="0"/>
                <a:cs typeface="Arial" panose="020B0604020202020204" pitchFamily="34" charset="0"/>
              </a:rPr>
              <a:t>School of EEE,</a:t>
            </a:r>
          </a:p>
          <a:p>
            <a:pPr algn="ctr"/>
            <a:r>
              <a:rPr lang="en-US" sz="1400" dirty="0">
                <a:latin typeface="Arial" panose="020B0604020202020204" pitchFamily="34" charset="0"/>
                <a:cs typeface="Arial" panose="020B0604020202020204" pitchFamily="34" charset="0"/>
              </a:rPr>
              <a:t>SASTRA Deemed to be University,</a:t>
            </a:r>
          </a:p>
          <a:p>
            <a:pPr algn="ctr"/>
            <a:r>
              <a:rPr lang="en-US" sz="1400" dirty="0">
                <a:latin typeface="Arial" panose="020B0604020202020204" pitchFamily="34" charset="0"/>
                <a:cs typeface="Arial" panose="020B0604020202020204" pitchFamily="34" charset="0"/>
              </a:rPr>
              <a:t>Thanjavur</a:t>
            </a:r>
          </a:p>
          <a:p>
            <a:pPr algn="ctr"/>
            <a:endParaRPr lang="pt-BR" sz="14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4AA5C31-3223-4F48-A987-BDDC0E416A89}"/>
              </a:ext>
            </a:extLst>
          </p:cNvPr>
          <p:cNvSpPr txBox="1"/>
          <p:nvPr/>
        </p:nvSpPr>
        <p:spPr>
          <a:xfrm>
            <a:off x="0" y="979883"/>
            <a:ext cx="9144000" cy="1077218"/>
          </a:xfrm>
          <a:prstGeom prst="rect">
            <a:avLst/>
          </a:prstGeom>
          <a:noFill/>
        </p:spPr>
        <p:txBody>
          <a:bodyPr wrap="square" rtlCol="0">
            <a:spAutoFit/>
          </a:bodyPr>
          <a:lstStyle/>
          <a:p>
            <a:pPr algn="ctr"/>
            <a:r>
              <a:rPr lang="en-US" sz="3200" dirty="0">
                <a:ln w="10160">
                  <a:solidFill>
                    <a:schemeClr val="accent5"/>
                  </a:solidFill>
                  <a:prstDash val="solid"/>
                </a:ln>
                <a:solidFill>
                  <a:srgbClr val="FFFFFF"/>
                </a:solidFill>
                <a:effectLst>
                  <a:outerShdw blurRad="38100" dist="22860" dir="5400000" algn="tl" rotWithShape="0">
                    <a:srgbClr val="000000">
                      <a:alpha val="30000"/>
                    </a:srgbClr>
                  </a:outerShdw>
                </a:effectLst>
              </a:rPr>
              <a:t>Smart Pisciculture User Recommendation System  </a:t>
            </a:r>
          </a:p>
          <a:p>
            <a:pPr algn="ctr"/>
            <a:r>
              <a:rPr lang="en-US" sz="3200" dirty="0">
                <a:ln w="10160">
                  <a:solidFill>
                    <a:schemeClr val="accent5"/>
                  </a:solidFill>
                  <a:prstDash val="solid"/>
                </a:ln>
                <a:solidFill>
                  <a:srgbClr val="FFFFFF"/>
                </a:solidFill>
                <a:effectLst>
                  <a:outerShdw blurRad="38100" dist="22860" dir="5400000" algn="tl" rotWithShape="0">
                    <a:srgbClr val="000000">
                      <a:alpha val="30000"/>
                    </a:srgbClr>
                  </a:outerShdw>
                </a:effectLst>
              </a:rPr>
              <a:t>(SPURS)</a:t>
            </a:r>
            <a:endParaRPr lang="en-US" sz="3200" dirty="0"/>
          </a:p>
        </p:txBody>
      </p:sp>
    </p:spTree>
    <p:extLst>
      <p:ext uri="{BB962C8B-B14F-4D97-AF65-F5344CB8AC3E}">
        <p14:creationId xmlns:p14="http://schemas.microsoft.com/office/powerpoint/2010/main" val="747418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 Outline</a:t>
            </a:r>
          </a:p>
        </p:txBody>
      </p:sp>
      <p:sp>
        <p:nvSpPr>
          <p:cNvPr id="3" name="Content Placeholder 2"/>
          <p:cNvSpPr>
            <a:spLocks noGrp="1"/>
          </p:cNvSpPr>
          <p:nvPr>
            <p:ph idx="1"/>
          </p:nvPr>
        </p:nvSpPr>
        <p:spPr>
          <a:xfrm>
            <a:off x="457200" y="2133600"/>
            <a:ext cx="8229600" cy="4389120"/>
          </a:xfrm>
        </p:spPr>
        <p:txBody>
          <a:bodyPr>
            <a:normAutofit/>
          </a:bodyPr>
          <a:lstStyle/>
          <a:p>
            <a:r>
              <a:rPr lang="en-US" dirty="0"/>
              <a:t>Abstract</a:t>
            </a:r>
          </a:p>
          <a:p>
            <a:r>
              <a:rPr lang="en-US" dirty="0"/>
              <a:t>Introduction</a:t>
            </a:r>
          </a:p>
          <a:p>
            <a:r>
              <a:rPr lang="en-US" dirty="0"/>
              <a:t>Proposed approach</a:t>
            </a:r>
          </a:p>
          <a:p>
            <a:r>
              <a:rPr lang="en-US" dirty="0"/>
              <a:t>Result and Discussion</a:t>
            </a:r>
          </a:p>
          <a:p>
            <a:r>
              <a:rPr lang="en-US" dirty="0"/>
              <a:t>Conclusion</a:t>
            </a:r>
          </a:p>
          <a:p>
            <a:r>
              <a:rPr lang="en-US" dirty="0"/>
              <a:t>Reference</a:t>
            </a:r>
          </a:p>
        </p:txBody>
      </p:sp>
    </p:spTree>
    <p:extLst>
      <p:ext uri="{BB962C8B-B14F-4D97-AF65-F5344CB8AC3E}">
        <p14:creationId xmlns:p14="http://schemas.microsoft.com/office/powerpoint/2010/main" val="1409303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a:xfrm>
            <a:off x="457200" y="2129814"/>
            <a:ext cx="8229600" cy="3432785"/>
          </a:xfrm>
        </p:spPr>
        <p:txBody>
          <a:bodyPr>
            <a:normAutofit/>
          </a:bodyPr>
          <a:lstStyle/>
          <a:p>
            <a:pPr algn="just"/>
            <a:r>
              <a:rPr lang="en-US" sz="2000" dirty="0"/>
              <a:t>The objective of the project is to simplify the crucial and tedious processes of monitoring and collecting data from water bodies and surrounding ecosystems. </a:t>
            </a:r>
          </a:p>
          <a:p>
            <a:pPr algn="just"/>
            <a:r>
              <a:rPr lang="en-US" sz="2000" dirty="0"/>
              <a:t>It is achieved by automating these processes through the implementation of the Internet of Things (IoT). </a:t>
            </a:r>
          </a:p>
          <a:p>
            <a:pPr algn="just"/>
            <a:r>
              <a:rPr lang="en-US" sz="2000" dirty="0"/>
              <a:t>The proposed system will provide essential information about water conditions and factors that influence the growth of fish and shrimp. </a:t>
            </a:r>
          </a:p>
          <a:p>
            <a:pPr algn="just"/>
            <a:r>
              <a:rPr lang="en-US" sz="2000" dirty="0"/>
              <a:t>Recommendations will be generated based on real-time data from the fisheries, enabling farmers to make data-driven and timely decisions to prevent any mishaps</a:t>
            </a:r>
          </a:p>
        </p:txBody>
      </p:sp>
    </p:spTree>
    <p:extLst>
      <p:ext uri="{BB962C8B-B14F-4D97-AF65-F5344CB8AC3E}">
        <p14:creationId xmlns:p14="http://schemas.microsoft.com/office/powerpoint/2010/main" val="241570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pPr algn="just"/>
            <a:r>
              <a:rPr lang="en-US" dirty="0"/>
              <a:t>Pisciculture involves rearing fish on a large scale for food consumption. However, due to limited awareness and scarce technical and scientific development in the field, the final yield or annual production from fisheries often fails to meet existing food demands. </a:t>
            </a:r>
          </a:p>
          <a:p>
            <a:pPr algn="just"/>
            <a:r>
              <a:rPr lang="en-US" dirty="0"/>
              <a:t>This problem can be addressed with a simple yet crucial methodology that involves periodic monitoring and data collection, tasks that are often tedious</a:t>
            </a:r>
          </a:p>
        </p:txBody>
      </p:sp>
    </p:spTree>
    <p:extLst>
      <p:ext uri="{BB962C8B-B14F-4D97-AF65-F5344CB8AC3E}">
        <p14:creationId xmlns:p14="http://schemas.microsoft.com/office/powerpoint/2010/main" val="1380755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a:bodyPr>
          <a:lstStyle/>
          <a:p>
            <a:r>
              <a:rPr lang="en-US" dirty="0"/>
              <a:t>Proposed approach</a:t>
            </a:r>
          </a:p>
        </p:txBody>
      </p:sp>
      <p:sp>
        <p:nvSpPr>
          <p:cNvPr id="3" name="Content Placeholder 2"/>
          <p:cNvSpPr>
            <a:spLocks noGrp="1"/>
          </p:cNvSpPr>
          <p:nvPr>
            <p:ph idx="1"/>
          </p:nvPr>
        </p:nvSpPr>
        <p:spPr>
          <a:xfrm>
            <a:off x="452582" y="1905000"/>
            <a:ext cx="8534400" cy="4724400"/>
          </a:xfrm>
        </p:spPr>
        <p:txBody>
          <a:bodyPr>
            <a:normAutofit/>
          </a:bodyPr>
          <a:lstStyle/>
          <a:p>
            <a:r>
              <a:rPr lang="en-US" sz="2000" dirty="0"/>
              <a:t>To implement the IoT aspect of this project by utilizing various necessary sensors crucial to the collection of essential information to be analysed.</a:t>
            </a:r>
          </a:p>
          <a:p>
            <a:r>
              <a:rPr lang="en-US" sz="2000" dirty="0"/>
              <a:t>The sensors taken into consideration are temperature, Turbidity, dissolved solids, depth, pH and Dissolved Oxygen (for BOD).</a:t>
            </a:r>
          </a:p>
          <a:p>
            <a:r>
              <a:rPr lang="en-US" sz="2000" dirty="0"/>
              <a:t>These sensors work in tandem in order to deliver and store the data to a cloud based service for pre-processing and analysis.</a:t>
            </a:r>
          </a:p>
          <a:p>
            <a:r>
              <a:rPr lang="en-US" sz="2000" dirty="0"/>
              <a:t>The IoT cloud platform used here is Thinkspeak, which offers database management.</a:t>
            </a:r>
          </a:p>
          <a:p>
            <a:r>
              <a:rPr lang="en-US" sz="2000" dirty="0"/>
              <a:t>The data is retrieved from the database in the form of a report upon request from the user via an API or it can be seen in real-time from the API and in case of emergency an alert prompt or message is delivered</a:t>
            </a:r>
          </a:p>
        </p:txBody>
      </p:sp>
    </p:spTree>
    <p:extLst>
      <p:ext uri="{BB962C8B-B14F-4D97-AF65-F5344CB8AC3E}">
        <p14:creationId xmlns:p14="http://schemas.microsoft.com/office/powerpoint/2010/main" val="105012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229600" cy="5334000"/>
          </a:xfrm>
        </p:spPr>
        <p:txBody>
          <a:bodyPr>
            <a:normAutofit fontScale="92500" lnSpcReduction="10000"/>
          </a:bodyPr>
          <a:lstStyle/>
          <a:p>
            <a:pPr lvl="0" algn="just"/>
            <a:r>
              <a:rPr lang="en-IN" sz="2000" dirty="0"/>
              <a:t>The system utilizes an Arduino Mega and ESP32 to gather sensor data and transmit it to the cloud-based platform </a:t>
            </a:r>
            <a:r>
              <a:rPr lang="en-IN" sz="2000" dirty="0" err="1"/>
              <a:t>ThingSpeak</a:t>
            </a:r>
            <a:r>
              <a:rPr lang="en-IN" sz="2000" dirty="0"/>
              <a:t> for analysis and visualization.</a:t>
            </a:r>
            <a:endParaRPr lang="en-US" sz="2000" dirty="0"/>
          </a:p>
          <a:p>
            <a:pPr lvl="0" algn="just"/>
            <a:r>
              <a:rPr lang="en-IN" sz="2000" dirty="0"/>
              <a:t>The system consists of an Arduino Mega and ESP32, which work together to collect and transmit data from six different sensors. </a:t>
            </a:r>
          </a:p>
          <a:p>
            <a:pPr lvl="0" algn="just"/>
            <a:r>
              <a:rPr lang="en-IN" sz="2000" dirty="0"/>
              <a:t>The Arduino Mega serves as the central unit for data collection, while the ESP32 handles the communication with </a:t>
            </a:r>
            <a:r>
              <a:rPr lang="en-IN" sz="2000" dirty="0" err="1"/>
              <a:t>ThingSpeak</a:t>
            </a:r>
            <a:r>
              <a:rPr lang="en-IN" sz="2000" dirty="0"/>
              <a:t>.</a:t>
            </a:r>
            <a:endParaRPr lang="en-US" sz="2000" dirty="0"/>
          </a:p>
          <a:p>
            <a:pPr lvl="0" algn="just"/>
            <a:r>
              <a:rPr lang="en-IN" sz="2000" dirty="0"/>
              <a:t>The ESP32 module is responsible for establishing a connection to the cloud-based platform </a:t>
            </a:r>
            <a:r>
              <a:rPr lang="en-IN" sz="2000" dirty="0" err="1"/>
              <a:t>ThingSpeak</a:t>
            </a:r>
            <a:r>
              <a:rPr lang="en-IN" sz="2000" dirty="0"/>
              <a:t>. Using its communication capabilities, the ESP32 securely transmits the collected data to the ThingSpeak platform.</a:t>
            </a:r>
          </a:p>
          <a:p>
            <a:r>
              <a:rPr lang="en-US" sz="2000" dirty="0"/>
              <a:t>The parameters considered are temperature, pH, turbidity, dissolved oxygen, depth and dissolved solids for monitoring and providing data as these attributes are very crucial for uninhibited growth of fishes.</a:t>
            </a:r>
          </a:p>
          <a:p>
            <a:r>
              <a:rPr lang="en-US" sz="2000" dirty="0"/>
              <a:t>These six attributes are constantly monitored with the help of 5 sensors to provide real time data when connected with ESP-32 which is in turn connected with the </a:t>
            </a:r>
            <a:r>
              <a:rPr lang="en-US" sz="2000" dirty="0" err="1"/>
              <a:t>thinkspeak</a:t>
            </a:r>
            <a:r>
              <a:rPr lang="en-US" sz="2000" dirty="0"/>
              <a:t> API and hence can deliver the real time data to the cloud</a:t>
            </a:r>
          </a:p>
          <a:p>
            <a:pPr lvl="0" algn="just"/>
            <a:endParaRPr lang="en-US" sz="2000" dirty="0"/>
          </a:p>
        </p:txBody>
      </p:sp>
    </p:spTree>
    <p:extLst>
      <p:ext uri="{BB962C8B-B14F-4D97-AF65-F5344CB8AC3E}">
        <p14:creationId xmlns:p14="http://schemas.microsoft.com/office/powerpoint/2010/main" val="202691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21" y="1066800"/>
            <a:ext cx="2799079" cy="174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078505"/>
            <a:ext cx="2401887" cy="1737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3330011"/>
            <a:ext cx="2603500" cy="247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352800"/>
            <a:ext cx="2388978" cy="2452124"/>
          </a:xfrm>
          <a:prstGeom prst="rect">
            <a:avLst/>
          </a:prstGeom>
          <a:noFill/>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1066800"/>
            <a:ext cx="2776005" cy="174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37820" y="2816224"/>
            <a:ext cx="2771305" cy="338554"/>
          </a:xfrm>
          <a:prstGeom prst="rect">
            <a:avLst/>
          </a:prstGeom>
          <a:noFill/>
        </p:spPr>
        <p:txBody>
          <a:bodyPr wrap="square" rtlCol="0">
            <a:spAutoFit/>
          </a:bodyPr>
          <a:lstStyle/>
          <a:p>
            <a:r>
              <a:rPr lang="en-US" sz="1600" dirty="0"/>
              <a:t>pH &amp; temperature sensor</a:t>
            </a:r>
          </a:p>
        </p:txBody>
      </p:sp>
      <p:sp>
        <p:nvSpPr>
          <p:cNvPr id="3" name="TextBox 2"/>
          <p:cNvSpPr txBox="1"/>
          <p:nvPr/>
        </p:nvSpPr>
        <p:spPr>
          <a:xfrm>
            <a:off x="3518140" y="2839340"/>
            <a:ext cx="2416362" cy="338554"/>
          </a:xfrm>
          <a:prstGeom prst="rect">
            <a:avLst/>
          </a:prstGeom>
          <a:noFill/>
        </p:spPr>
        <p:txBody>
          <a:bodyPr wrap="square" rtlCol="0">
            <a:spAutoFit/>
          </a:bodyPr>
          <a:lstStyle/>
          <a:p>
            <a:r>
              <a:rPr lang="en-US" sz="1600" dirty="0"/>
              <a:t>Depth sensor</a:t>
            </a:r>
          </a:p>
        </p:txBody>
      </p:sp>
      <p:sp>
        <p:nvSpPr>
          <p:cNvPr id="5" name="TextBox 4"/>
          <p:cNvSpPr txBox="1"/>
          <p:nvPr/>
        </p:nvSpPr>
        <p:spPr>
          <a:xfrm>
            <a:off x="6172200" y="2839340"/>
            <a:ext cx="2590800" cy="338554"/>
          </a:xfrm>
          <a:prstGeom prst="rect">
            <a:avLst/>
          </a:prstGeom>
          <a:noFill/>
        </p:spPr>
        <p:txBody>
          <a:bodyPr wrap="square" rtlCol="0">
            <a:spAutoFit/>
          </a:bodyPr>
          <a:lstStyle/>
          <a:p>
            <a:r>
              <a:rPr lang="en-US" sz="1600" dirty="0"/>
              <a:t>Dissolved Solids Sensor</a:t>
            </a:r>
          </a:p>
        </p:txBody>
      </p:sp>
      <p:sp>
        <p:nvSpPr>
          <p:cNvPr id="6" name="TextBox 5"/>
          <p:cNvSpPr txBox="1"/>
          <p:nvPr/>
        </p:nvSpPr>
        <p:spPr>
          <a:xfrm>
            <a:off x="1835150" y="5867400"/>
            <a:ext cx="2508250" cy="338554"/>
          </a:xfrm>
          <a:prstGeom prst="rect">
            <a:avLst/>
          </a:prstGeom>
          <a:noFill/>
        </p:spPr>
        <p:txBody>
          <a:bodyPr wrap="square" rtlCol="0">
            <a:spAutoFit/>
          </a:bodyPr>
          <a:lstStyle/>
          <a:p>
            <a:r>
              <a:rPr lang="en-US" sz="1600" dirty="0"/>
              <a:t>Dissolved oxygen sensor</a:t>
            </a:r>
          </a:p>
        </p:txBody>
      </p:sp>
      <p:sp>
        <p:nvSpPr>
          <p:cNvPr id="9" name="TextBox 8"/>
          <p:cNvSpPr txBox="1"/>
          <p:nvPr/>
        </p:nvSpPr>
        <p:spPr>
          <a:xfrm>
            <a:off x="5171224" y="5852011"/>
            <a:ext cx="2388978" cy="338554"/>
          </a:xfrm>
          <a:prstGeom prst="rect">
            <a:avLst/>
          </a:prstGeom>
          <a:noFill/>
        </p:spPr>
        <p:txBody>
          <a:bodyPr wrap="square" rtlCol="0">
            <a:spAutoFit/>
          </a:bodyPr>
          <a:lstStyle/>
          <a:p>
            <a:r>
              <a:rPr lang="en-US" sz="1600" dirty="0"/>
              <a:t>Turbidity Sensor</a:t>
            </a:r>
          </a:p>
        </p:txBody>
      </p:sp>
      <p:sp>
        <p:nvSpPr>
          <p:cNvPr id="8" name="TextBox 7">
            <a:extLst>
              <a:ext uri="{FF2B5EF4-FFF2-40B4-BE49-F238E27FC236}">
                <a16:creationId xmlns:a16="http://schemas.microsoft.com/office/drawing/2014/main" id="{3B41D347-E59E-9914-29EF-BCB0F819A3FB}"/>
              </a:ext>
            </a:extLst>
          </p:cNvPr>
          <p:cNvSpPr txBox="1"/>
          <p:nvPr/>
        </p:nvSpPr>
        <p:spPr>
          <a:xfrm>
            <a:off x="4303757" y="625241"/>
            <a:ext cx="4581236" cy="369332"/>
          </a:xfrm>
          <a:prstGeom prst="rect">
            <a:avLst/>
          </a:prstGeom>
          <a:noFill/>
        </p:spPr>
        <p:txBody>
          <a:bodyPr wrap="square">
            <a:spAutoFit/>
          </a:bodyPr>
          <a:lstStyle/>
          <a:p>
            <a:r>
              <a:rPr lang="en-US" sz="1800" dirty="0"/>
              <a:t>Sensors</a:t>
            </a:r>
            <a:endParaRPr lang="en-IN" dirty="0"/>
          </a:p>
        </p:txBody>
      </p:sp>
    </p:spTree>
    <p:extLst>
      <p:ext uri="{BB962C8B-B14F-4D97-AF65-F5344CB8AC3E}">
        <p14:creationId xmlns:p14="http://schemas.microsoft.com/office/powerpoint/2010/main" val="202245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684" y="710080"/>
            <a:ext cx="8229600" cy="865755"/>
          </a:xfrm>
        </p:spPr>
        <p:txBody>
          <a:bodyPr>
            <a:normAutofit/>
          </a:bodyPr>
          <a:lstStyle/>
          <a:p>
            <a:r>
              <a:rPr lang="en-US" sz="4000" dirty="0"/>
              <a:t>Work flow</a:t>
            </a:r>
          </a:p>
        </p:txBody>
      </p:sp>
      <p:sp>
        <p:nvSpPr>
          <p:cNvPr id="6" name="TextBox 5"/>
          <p:cNvSpPr txBox="1"/>
          <p:nvPr/>
        </p:nvSpPr>
        <p:spPr>
          <a:xfrm>
            <a:off x="304800" y="4159487"/>
            <a:ext cx="1981200" cy="92333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b="1" dirty="0"/>
              <a:t>Deploying the sensors in water body.</a:t>
            </a:r>
          </a:p>
        </p:txBody>
      </p:sp>
      <p:sp>
        <p:nvSpPr>
          <p:cNvPr id="7" name="TextBox 6"/>
          <p:cNvSpPr txBox="1"/>
          <p:nvPr/>
        </p:nvSpPr>
        <p:spPr>
          <a:xfrm>
            <a:off x="419456" y="3068884"/>
            <a:ext cx="1956275"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Acquisition of Data</a:t>
            </a:r>
          </a:p>
        </p:txBody>
      </p:sp>
      <p:sp>
        <p:nvSpPr>
          <p:cNvPr id="9" name="TextBox 8"/>
          <p:cNvSpPr txBox="1"/>
          <p:nvPr/>
        </p:nvSpPr>
        <p:spPr>
          <a:xfrm>
            <a:off x="438684" y="1786426"/>
            <a:ext cx="2008974"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b="1" dirty="0"/>
              <a:t>Pre-processing data and storing in cloud </a:t>
            </a:r>
          </a:p>
        </p:txBody>
      </p:sp>
      <p:sp>
        <p:nvSpPr>
          <p:cNvPr id="15" name="TextBox 14"/>
          <p:cNvSpPr txBox="1"/>
          <p:nvPr/>
        </p:nvSpPr>
        <p:spPr>
          <a:xfrm>
            <a:off x="6324600" y="3304291"/>
            <a:ext cx="1905000" cy="1477328"/>
          </a:xfrm>
          <a:prstGeom prst="rect">
            <a:avLst/>
          </a:prstGeom>
          <a:effectLst>
            <a:glow rad="139700">
              <a:schemeClr val="accent6">
                <a:satMod val="175000"/>
                <a:alpha val="40000"/>
              </a:schemeClr>
            </a:glow>
            <a:outerShdw blurRad="57150" dist="38100" dir="5400000" algn="ctr" rotWithShape="0">
              <a:schemeClr val="accent6">
                <a:shade val="9000"/>
                <a:alpha val="48000"/>
                <a:satMod val="105000"/>
              </a:schemeClr>
            </a:outerShdw>
          </a:effectLst>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dirty="0"/>
              <a:t>Deliver the test results upon request or at real time and sending alerts</a:t>
            </a:r>
          </a:p>
        </p:txBody>
      </p:sp>
      <p:sp>
        <p:nvSpPr>
          <p:cNvPr id="16" name="TextBox 15"/>
          <p:cNvSpPr txBox="1"/>
          <p:nvPr/>
        </p:nvSpPr>
        <p:spPr>
          <a:xfrm>
            <a:off x="3124200" y="3392050"/>
            <a:ext cx="1905000" cy="1477328"/>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Hosting of website and Application to monitor the ecosystem</a:t>
            </a:r>
          </a:p>
        </p:txBody>
      </p:sp>
      <p:sp>
        <p:nvSpPr>
          <p:cNvPr id="18" name="TextBox 17"/>
          <p:cNvSpPr txBox="1"/>
          <p:nvPr/>
        </p:nvSpPr>
        <p:spPr>
          <a:xfrm>
            <a:off x="3124200" y="5257800"/>
            <a:ext cx="1905000" cy="1200329"/>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US" dirty="0"/>
              <a:t>Request by user via the Application interface</a:t>
            </a:r>
          </a:p>
        </p:txBody>
      </p:sp>
      <p:cxnSp>
        <p:nvCxnSpPr>
          <p:cNvPr id="22" name="Straight Arrow Connector 21"/>
          <p:cNvCxnSpPr/>
          <p:nvPr/>
        </p:nvCxnSpPr>
        <p:spPr>
          <a:xfrm flipV="1">
            <a:off x="1308931" y="3742292"/>
            <a:ext cx="0" cy="38842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6" name="Straight Arrow Connector 25"/>
          <p:cNvCxnSpPr/>
          <p:nvPr/>
        </p:nvCxnSpPr>
        <p:spPr>
          <a:xfrm flipV="1">
            <a:off x="1295400" y="2709756"/>
            <a:ext cx="0" cy="29284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Straight Arrow Connector 28"/>
          <p:cNvCxnSpPr/>
          <p:nvPr/>
        </p:nvCxnSpPr>
        <p:spPr>
          <a:xfrm>
            <a:off x="2461545" y="2057400"/>
            <a:ext cx="66265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 name="Straight Arrow Connector 30"/>
          <p:cNvCxnSpPr>
            <a:cxnSpLocks/>
            <a:stCxn id="8" idx="2"/>
            <a:endCxn id="16" idx="0"/>
          </p:cNvCxnSpPr>
          <p:nvPr/>
        </p:nvCxnSpPr>
        <p:spPr>
          <a:xfrm>
            <a:off x="4076699" y="2766426"/>
            <a:ext cx="1" cy="6256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a:stCxn id="16" idx="2"/>
            <a:endCxn id="18" idx="0"/>
          </p:cNvCxnSpPr>
          <p:nvPr/>
        </p:nvCxnSpPr>
        <p:spPr>
          <a:xfrm>
            <a:off x="4076700" y="4869378"/>
            <a:ext cx="0" cy="38842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Elbow Connector 34"/>
          <p:cNvCxnSpPr>
            <a:stCxn id="18" idx="3"/>
            <a:endCxn id="15" idx="1"/>
          </p:cNvCxnSpPr>
          <p:nvPr/>
        </p:nvCxnSpPr>
        <p:spPr>
          <a:xfrm flipV="1">
            <a:off x="5029200" y="4042955"/>
            <a:ext cx="1295400" cy="1815010"/>
          </a:xfrm>
          <a:prstGeom prst="bentConnector3">
            <a:avLst/>
          </a:prstGeom>
          <a:ln>
            <a:tailEnd type="arrow"/>
          </a:ln>
        </p:spPr>
        <p:style>
          <a:lnRef idx="3">
            <a:schemeClr val="accent1"/>
          </a:lnRef>
          <a:fillRef idx="0">
            <a:schemeClr val="accent1"/>
          </a:fillRef>
          <a:effectRef idx="2">
            <a:schemeClr val="accent1"/>
          </a:effectRef>
          <a:fontRef idx="minor">
            <a:schemeClr val="tx1"/>
          </a:fontRef>
        </p:style>
      </p:cxnSp>
      <p:sp>
        <p:nvSpPr>
          <p:cNvPr id="8" name="Rectangle 7">
            <a:extLst>
              <a:ext uri="{FF2B5EF4-FFF2-40B4-BE49-F238E27FC236}">
                <a16:creationId xmlns:a16="http://schemas.microsoft.com/office/drawing/2014/main" id="{4C6E4A2A-898A-0946-922F-6D7100F0DB60}"/>
              </a:ext>
            </a:extLst>
          </p:cNvPr>
          <p:cNvSpPr/>
          <p:nvPr/>
        </p:nvSpPr>
        <p:spPr>
          <a:xfrm>
            <a:off x="3124200" y="1786426"/>
            <a:ext cx="1904998" cy="9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Handling of processed data via an IoT tool</a:t>
            </a:r>
            <a:endPar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311569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rmAutofit/>
          </a:bodyPr>
          <a:lstStyle/>
          <a:p>
            <a:r>
              <a:rPr lang="en-US" sz="4000" dirty="0"/>
              <a:t>Recommendation system </a:t>
            </a:r>
          </a:p>
        </p:txBody>
      </p:sp>
      <p:sp>
        <p:nvSpPr>
          <p:cNvPr id="3" name="Content Placeholder 2"/>
          <p:cNvSpPr>
            <a:spLocks noGrp="1"/>
          </p:cNvSpPr>
          <p:nvPr>
            <p:ph idx="1"/>
          </p:nvPr>
        </p:nvSpPr>
        <p:spPr>
          <a:xfrm>
            <a:off x="457200" y="1676400"/>
            <a:ext cx="8229600" cy="4648200"/>
          </a:xfrm>
        </p:spPr>
        <p:txBody>
          <a:bodyPr>
            <a:normAutofit/>
          </a:bodyPr>
          <a:lstStyle/>
          <a:p>
            <a:pPr algn="just"/>
            <a:r>
              <a:rPr lang="en-US" sz="2000" dirty="0"/>
              <a:t>The recommendation system is made with the use of MIT app inventor, with a drag and drop functionality.</a:t>
            </a:r>
          </a:p>
          <a:p>
            <a:pPr algn="just"/>
            <a:r>
              <a:rPr lang="en-US" sz="2000" dirty="0"/>
              <a:t>The Code for the SPURS app was done in a block connection method where each and every block represents a syntax</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124200"/>
            <a:ext cx="533907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9077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3800"/>
            <a:ext cx="8229600" cy="5638800"/>
          </a:xfrm>
        </p:spPr>
        <p:txBody>
          <a:bodyPr>
            <a:normAutofit/>
          </a:bodyPr>
          <a:lstStyle/>
          <a:p>
            <a:pPr algn="just"/>
            <a:r>
              <a:rPr lang="en-US" sz="2000" dirty="0"/>
              <a:t>The recommended system was divided into two types, first one being a manual one which anyone with data in their hand can make use of.</a:t>
            </a:r>
          </a:p>
          <a:p>
            <a:pPr algn="just"/>
            <a:r>
              <a:rPr lang="en-US" sz="2000" dirty="0"/>
              <a:t>The second recommendation system was an automatic one, which based on the real time data acquired from the </a:t>
            </a:r>
            <a:r>
              <a:rPr lang="en-US" sz="2000" dirty="0" err="1"/>
              <a:t>IoT</a:t>
            </a:r>
            <a:r>
              <a:rPr lang="en-US" sz="2000" dirty="0"/>
              <a:t>, gives out suggestions regarding the condition of the water body.</a:t>
            </a:r>
          </a:p>
          <a:p>
            <a:pPr algn="just"/>
            <a:r>
              <a:rPr lang="en-US" sz="2000" dirty="0"/>
              <a:t>The second system requires the user to have created an Thinkspeak account which is connected to their IoT implementation.</a:t>
            </a:r>
          </a:p>
          <a:p>
            <a:pPr algn="just"/>
            <a:r>
              <a:rPr lang="en-US" sz="2000" dirty="0"/>
              <a:t>This Automated system updates the real-time data in the think speak server which can be viewed from the SPURS app.</a:t>
            </a:r>
          </a:p>
          <a:p>
            <a:pPr algn="just"/>
            <a:r>
              <a:rPr lang="en-US" sz="2000" dirty="0"/>
              <a:t>The manual Recommendation system on the other hand does not require any IoT setup or sensors connected with </a:t>
            </a:r>
            <a:r>
              <a:rPr lang="en-US" sz="2000" dirty="0" err="1"/>
              <a:t>thinkspeak</a:t>
            </a:r>
            <a:r>
              <a:rPr lang="en-US" sz="2000" dirty="0"/>
              <a:t>.</a:t>
            </a:r>
          </a:p>
          <a:p>
            <a:pPr algn="just"/>
            <a:r>
              <a:rPr lang="en-US" sz="2000" dirty="0"/>
              <a:t>These Manual recommendation systems can be used with the help of any data related to the fish farm, be it in the form of reports or data from tests.</a:t>
            </a:r>
          </a:p>
        </p:txBody>
      </p:sp>
    </p:spTree>
    <p:extLst>
      <p:ext uri="{BB962C8B-B14F-4D97-AF65-F5344CB8AC3E}">
        <p14:creationId xmlns:p14="http://schemas.microsoft.com/office/powerpoint/2010/main" val="3652031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9" y="371764"/>
            <a:ext cx="8229600" cy="1143000"/>
          </a:xfrm>
        </p:spPr>
        <p:txBody>
          <a:bodyPr>
            <a:normAutofit/>
          </a:bodyPr>
          <a:lstStyle/>
          <a:p>
            <a:r>
              <a:rPr lang="en-US" sz="4000" dirty="0"/>
              <a:t>Data Sets</a:t>
            </a:r>
          </a:p>
        </p:txBody>
      </p:sp>
      <p:pic>
        <p:nvPicPr>
          <p:cNvPr id="9" name="Content Placeholder 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399" y="1752600"/>
            <a:ext cx="4267201" cy="1745922"/>
          </a:xfrm>
        </p:spPr>
      </p:pic>
      <p:sp>
        <p:nvSpPr>
          <p:cNvPr id="10" name="TextBox 9"/>
          <p:cNvSpPr txBox="1"/>
          <p:nvPr/>
        </p:nvSpPr>
        <p:spPr>
          <a:xfrm>
            <a:off x="175490" y="3810000"/>
            <a:ext cx="8839200"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set for species of fish recommended for Ministry of fishery to be grown Commercially </a:t>
            </a:r>
          </a:p>
          <a:p>
            <a:r>
              <a:rPr lang="en-US" sz="1600" dirty="0">
                <a:latin typeface="Times New Roman" panose="02020603050405020304" pitchFamily="18" charset="0"/>
                <a:cs typeface="Times New Roman" panose="02020603050405020304" pitchFamily="18" charset="0"/>
              </a:rPr>
              <a:t>      for consumption. Here these values represent the Optimal growing condition for the fishes.</a:t>
            </a:r>
          </a:p>
        </p:txBody>
      </p:sp>
      <p:pic>
        <p:nvPicPr>
          <p:cNvPr id="8" name="Content Placeholder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9600" y="1752600"/>
            <a:ext cx="4216400" cy="1744717"/>
          </a:xfrm>
          <a:prstGeom prst="rect">
            <a:avLst/>
          </a:prstGeom>
        </p:spPr>
      </p:pic>
      <p:sp>
        <p:nvSpPr>
          <p:cNvPr id="3" name="TextBox 2"/>
          <p:cNvSpPr txBox="1"/>
          <p:nvPr/>
        </p:nvSpPr>
        <p:spPr>
          <a:xfrm>
            <a:off x="152399" y="4481771"/>
            <a:ext cx="8839200"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Threshold values of each attributes which are taken into condition for deploying respective sensors. Exceeding the threshold values or the values being less than the optimal values results in stunted growth of  the fishes.</a:t>
            </a:r>
          </a:p>
        </p:txBody>
      </p:sp>
    </p:spTree>
    <p:extLst>
      <p:ext uri="{BB962C8B-B14F-4D97-AF65-F5344CB8AC3E}">
        <p14:creationId xmlns:p14="http://schemas.microsoft.com/office/powerpoint/2010/main" val="4216006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398"/>
            <a:ext cx="8229600" cy="1143000"/>
          </a:xfrm>
        </p:spPr>
        <p:txBody>
          <a:bodyPr>
            <a:noAutofit/>
          </a:bodyPr>
          <a:lstStyle/>
          <a:p>
            <a:r>
              <a:rPr lang="en-US" sz="3600" dirty="0"/>
              <a:t>Results and Discussion</a:t>
            </a:r>
            <a:br>
              <a:rPr lang="en-US" sz="3600" dirty="0"/>
            </a:br>
            <a:endParaRPr lang="en-US" sz="36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7927" y="1058217"/>
            <a:ext cx="2895600" cy="1836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3242" y="1065316"/>
            <a:ext cx="3311915" cy="1836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r="28466"/>
          <a:stretch/>
        </p:blipFill>
        <p:spPr bwMode="auto">
          <a:xfrm>
            <a:off x="6774873" y="1058216"/>
            <a:ext cx="2369128" cy="1836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29382"/>
          <a:stretch/>
        </p:blipFill>
        <p:spPr bwMode="auto">
          <a:xfrm>
            <a:off x="457200" y="3276600"/>
            <a:ext cx="2530754"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206D6627-9CB7-BA5D-022D-072B5E8B921B}"/>
              </a:ext>
            </a:extLst>
          </p:cNvPr>
          <p:cNvSpPr txBox="1"/>
          <p:nvPr/>
        </p:nvSpPr>
        <p:spPr>
          <a:xfrm>
            <a:off x="3505200" y="3470505"/>
            <a:ext cx="5181600" cy="2585323"/>
          </a:xfrm>
          <a:prstGeom prst="rect">
            <a:avLst/>
          </a:prstGeom>
          <a:noFill/>
        </p:spPr>
        <p:txBody>
          <a:bodyPr wrap="square">
            <a:spAutoFit/>
          </a:bodyPr>
          <a:lstStyle/>
          <a:p>
            <a:pPr marL="285750" indent="-285750" algn="just">
              <a:buFont typeface="Arial" panose="020B0604020202020204" pitchFamily="34" charset="0"/>
              <a:buChar char="•"/>
            </a:pPr>
            <a:r>
              <a:rPr lang="en-US" sz="1800" dirty="0"/>
              <a:t>The model has been successfully developed and deployed within an IoT system designed to collect real-time data from the fish farm.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sz="1800" dirty="0"/>
              <a:t>Additionally, a mobile application has been developed to provide suggestions based on the real-time data gathered by the IoT system. This app also helps farmers make data-driven decisions</a:t>
            </a:r>
          </a:p>
        </p:txBody>
      </p:sp>
    </p:spTree>
    <p:extLst>
      <p:ext uri="{BB962C8B-B14F-4D97-AF65-F5344CB8AC3E}">
        <p14:creationId xmlns:p14="http://schemas.microsoft.com/office/powerpoint/2010/main" val="2343138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B43E392-9DF9-3302-F19E-5F1AFBA009AD}"/>
              </a:ext>
            </a:extLst>
          </p:cNvPr>
          <p:cNvSpPr txBox="1">
            <a:spLocks/>
          </p:cNvSpPr>
          <p:nvPr/>
        </p:nvSpPr>
        <p:spPr>
          <a:xfrm>
            <a:off x="457200" y="1981200"/>
            <a:ext cx="8229600" cy="3909060"/>
          </a:xfrm>
          <a:prstGeom prst="rect">
            <a:avLst/>
          </a:prstGeom>
        </p:spPr>
        <p:txBody>
          <a:bodyPr vert="horz">
            <a:normAutofit fontScale="85000" lnSpcReduction="100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just"/>
            <a:r>
              <a:rPr lang="en-US" sz="2000" dirty="0"/>
              <a:t>This project has successfully simplified the monitoring and data collection processes in water bodies and their surrounding ecosystems by leveraging the capabilities of the Internet of Things (IoT).</a:t>
            </a:r>
          </a:p>
          <a:p>
            <a:pPr algn="just"/>
            <a:r>
              <a:rPr lang="en-US" sz="2000" dirty="0"/>
              <a:t>The newly implemented system automates these previously labor-intensive tasks, providing continuous, real-time data on water conditions and other environmental factors critical to the health and growth of fish and shrimp populations. </a:t>
            </a:r>
          </a:p>
          <a:p>
            <a:pPr algn="just"/>
            <a:r>
              <a:rPr lang="en-US" sz="2000" dirty="0"/>
              <a:t>The information generated by this system enables fishery operators to make well-informed, timely decisions, enhancing the sustainability and productivity of their operations. By ensuring that these decisions are based on precise, up-to-date data, the project not only minimizes the risk of ecological mishaps but also supports a more efficient and productive aquaculture industry. </a:t>
            </a:r>
          </a:p>
          <a:p>
            <a:pPr algn="just"/>
            <a:r>
              <a:rPr lang="en-US" sz="2000" dirty="0"/>
              <a:t>This approach demonstrates a significant advancement in environmental monitoring technologies, offering a model that can be replicated in other sectors seeking similar improvements in data-driven management practices.</a:t>
            </a:r>
          </a:p>
        </p:txBody>
      </p:sp>
      <p:sp>
        <p:nvSpPr>
          <p:cNvPr id="4" name="Title 1">
            <a:extLst>
              <a:ext uri="{FF2B5EF4-FFF2-40B4-BE49-F238E27FC236}">
                <a16:creationId xmlns:a16="http://schemas.microsoft.com/office/drawing/2014/main" id="{760B1A86-0641-FA73-0C39-8E246A437D4C}"/>
              </a:ext>
            </a:extLst>
          </p:cNvPr>
          <p:cNvSpPr>
            <a:spLocks noGrp="1"/>
          </p:cNvSpPr>
          <p:nvPr>
            <p:ph type="title"/>
          </p:nvPr>
        </p:nvSpPr>
        <p:spPr>
          <a:xfrm>
            <a:off x="526473" y="609600"/>
            <a:ext cx="8229600" cy="1143000"/>
          </a:xfrm>
        </p:spPr>
        <p:txBody>
          <a:bodyPr>
            <a:normAutofit/>
          </a:bodyPr>
          <a:lstStyle/>
          <a:p>
            <a:pPr marL="0" indent="0">
              <a:buNone/>
            </a:pPr>
            <a:r>
              <a:rPr lang="en-US" sz="4400" dirty="0"/>
              <a:t>Conclusion</a:t>
            </a:r>
          </a:p>
        </p:txBody>
      </p:sp>
    </p:spTree>
    <p:extLst>
      <p:ext uri="{BB962C8B-B14F-4D97-AF65-F5344CB8AC3E}">
        <p14:creationId xmlns:p14="http://schemas.microsoft.com/office/powerpoint/2010/main" val="3329160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lnSpcReduction="10000"/>
          </a:bodyPr>
          <a:lstStyle/>
          <a:p>
            <a:r>
              <a:rPr lang="en-US" sz="1600" i="1" dirty="0">
                <a:solidFill>
                  <a:srgbClr val="FF0000"/>
                </a:solidFill>
                <a:hlinkClick r:id="rId2"/>
              </a:rPr>
              <a:t>IoT-Based Fish Farm Water Quality Monitoring System </a:t>
            </a:r>
            <a:r>
              <a:rPr lang="en-US" sz="1400" i="1" dirty="0">
                <a:solidFill>
                  <a:srgbClr val="FF0000"/>
                </a:solidFill>
                <a:hlinkClick r:id="rId2"/>
              </a:rPr>
              <a:t>by Chiung-Hsing Chen 1,Yi-Chen Wu ,Jia-Xiang Zhang and Ying-</a:t>
            </a:r>
            <a:r>
              <a:rPr lang="en-US" sz="1400" i="1" dirty="0" err="1">
                <a:solidFill>
                  <a:srgbClr val="FF0000"/>
                </a:solidFill>
                <a:hlinkClick r:id="rId2"/>
              </a:rPr>
              <a:t>Hsiu</a:t>
            </a:r>
            <a:r>
              <a:rPr lang="en-US" sz="1400" i="1" dirty="0">
                <a:solidFill>
                  <a:srgbClr val="FF0000"/>
                </a:solidFill>
                <a:hlinkClick r:id="rId2"/>
              </a:rPr>
              <a:t> Chen , Department of Electronic Communication Engineering, National Kaohsiung University of Science and Technology, Kaohsiung 811213, Taiwan and  Microchip Technology Inc., Chandler, AZ 85224, USA</a:t>
            </a:r>
            <a:endParaRPr lang="en-US" sz="1400" i="1" dirty="0">
              <a:solidFill>
                <a:srgbClr val="FF0000"/>
              </a:solidFill>
            </a:endParaRPr>
          </a:p>
          <a:p>
            <a:endParaRPr lang="en-US" sz="1600" i="1" dirty="0">
              <a:solidFill>
                <a:srgbClr val="FF0000"/>
              </a:solidFill>
            </a:endParaRPr>
          </a:p>
          <a:p>
            <a:r>
              <a:rPr lang="en-US" sz="1600" i="1" dirty="0">
                <a:solidFill>
                  <a:srgbClr val="FF0000"/>
                </a:solidFill>
                <a:hlinkClick r:id="rId3"/>
              </a:rPr>
              <a:t>IoT Based Automated Fish Farm Aquaculture Monitoring System </a:t>
            </a:r>
            <a:r>
              <a:rPr lang="en-US" sz="1400" i="1" dirty="0">
                <a:solidFill>
                  <a:srgbClr val="FF0000"/>
                </a:solidFill>
                <a:hlinkClick r:id="rId3"/>
              </a:rPr>
              <a:t>by Sajal Saha, Rakibul Hasan Rajib and Sumaiya </a:t>
            </a:r>
            <a:r>
              <a:rPr lang="en-US" sz="1400" i="1" dirty="0" err="1">
                <a:solidFill>
                  <a:srgbClr val="FF0000"/>
                </a:solidFill>
                <a:hlinkClick r:id="rId3"/>
              </a:rPr>
              <a:t>Kabir</a:t>
            </a:r>
            <a:r>
              <a:rPr lang="en-US" sz="1400" i="1" dirty="0">
                <a:solidFill>
                  <a:srgbClr val="FF0000"/>
                </a:solidFill>
                <a:hlinkClick r:id="rId3"/>
              </a:rPr>
              <a:t>, Conference: 2018 International Conference on Innovations in Science, Engineering and Technology (ICISET)</a:t>
            </a:r>
            <a:endParaRPr lang="en-US" sz="1400" i="1" dirty="0">
              <a:solidFill>
                <a:srgbClr val="FF0000"/>
              </a:solidFill>
            </a:endParaRPr>
          </a:p>
          <a:p>
            <a:endParaRPr lang="en-US" sz="1400" i="1" dirty="0">
              <a:solidFill>
                <a:srgbClr val="FF0000"/>
              </a:solidFill>
            </a:endParaRPr>
          </a:p>
          <a:p>
            <a:r>
              <a:rPr lang="en-US" sz="1600" i="1" dirty="0">
                <a:solidFill>
                  <a:srgbClr val="FF0000"/>
                </a:solidFill>
                <a:hlinkClick r:id="rId4"/>
              </a:rPr>
              <a:t>An efficient and smart IoT based pisciculture for developing countries </a:t>
            </a:r>
            <a:r>
              <a:rPr lang="en-US" sz="1400" i="1" dirty="0">
                <a:solidFill>
                  <a:srgbClr val="FF0000"/>
                </a:solidFill>
                <a:hlinkClick r:id="rId4"/>
              </a:rPr>
              <a:t>by P. </a:t>
            </a:r>
            <a:r>
              <a:rPr lang="en-US" sz="1400" i="1" dirty="0" err="1">
                <a:solidFill>
                  <a:srgbClr val="FF0000"/>
                </a:solidFill>
                <a:hlinkClick r:id="rId4"/>
              </a:rPr>
              <a:t>Veeralakshmi</a:t>
            </a:r>
            <a:r>
              <a:rPr lang="en-US" sz="1400" i="1" dirty="0">
                <a:solidFill>
                  <a:srgbClr val="FF0000"/>
                </a:solidFill>
                <a:hlinkClick r:id="rId4"/>
              </a:rPr>
              <a:t>,  S. Sowmya, K. Nattar Kannan, S. Anbu, and G. Ayyappan, on AIP Conference Proceedings</a:t>
            </a:r>
            <a:r>
              <a:rPr lang="en-US" sz="1400" i="1" dirty="0">
                <a:solidFill>
                  <a:srgbClr val="FF0000"/>
                </a:solidFill>
              </a:rPr>
              <a:t>.</a:t>
            </a:r>
          </a:p>
          <a:p>
            <a:pPr marL="0" indent="0">
              <a:buNone/>
            </a:pPr>
            <a:endParaRPr lang="en-US" sz="1400" i="1" dirty="0">
              <a:solidFill>
                <a:srgbClr val="FF0000"/>
              </a:solidFill>
            </a:endParaRPr>
          </a:p>
          <a:p>
            <a:r>
              <a:rPr lang="en-US" sz="1600" i="1" dirty="0">
                <a:solidFill>
                  <a:srgbClr val="FF0000"/>
                </a:solidFill>
                <a:hlinkClick r:id="rId5"/>
              </a:rPr>
              <a:t>Development of smart aquaculture farm management system using IoT and AI-based surrogate models</a:t>
            </a:r>
            <a:r>
              <a:rPr lang="en-US" sz="1400" i="1" dirty="0">
                <a:solidFill>
                  <a:srgbClr val="FF0000"/>
                </a:solidFill>
                <a:hlinkClick r:id="rId5"/>
              </a:rPr>
              <a:t> by Min-Chie Chiu , Wei-Mon Yan , </a:t>
            </a:r>
            <a:r>
              <a:rPr lang="en-US" sz="1400" i="1" dirty="0" err="1">
                <a:solidFill>
                  <a:srgbClr val="FF0000"/>
                </a:solidFill>
                <a:hlinkClick r:id="rId5"/>
              </a:rPr>
              <a:t>Showkat</a:t>
            </a:r>
            <a:r>
              <a:rPr lang="en-US" sz="1400" i="1" dirty="0">
                <a:solidFill>
                  <a:srgbClr val="FF0000"/>
                </a:solidFill>
                <a:hlinkClick r:id="rId5"/>
              </a:rPr>
              <a:t> Ahmad Bhat , </a:t>
            </a:r>
            <a:r>
              <a:rPr lang="en-US" sz="1400" i="1" dirty="0" err="1">
                <a:solidFill>
                  <a:srgbClr val="FF0000"/>
                </a:solidFill>
                <a:hlinkClick r:id="rId5"/>
              </a:rPr>
              <a:t>Nen</a:t>
            </a:r>
            <a:r>
              <a:rPr lang="en-US" sz="1400" i="1" dirty="0">
                <a:solidFill>
                  <a:srgbClr val="FF0000"/>
                </a:solidFill>
                <a:hlinkClick r:id="rId5"/>
              </a:rPr>
              <a:t> Fu Huang Department of Mechanical and Materials Engineering, Tatung University, Taipei, Taiwan, ROC Department of Energy and Refrigerating Air-Conditioning Engineering, National Taipei University of Technology, Taipei, 10608, Taiwan, ROC College of Electrical Engineering and Computer Science, National Tsing Hua University, Hsinchu, 300044, Taiwan, </a:t>
            </a:r>
            <a:endParaRPr lang="en-US" sz="1400" i="1" dirty="0">
              <a:solidFill>
                <a:srgbClr val="FF0000"/>
              </a:solidFill>
            </a:endParaRPr>
          </a:p>
        </p:txBody>
      </p:sp>
    </p:spTree>
    <p:extLst>
      <p:ext uri="{BB962C8B-B14F-4D97-AF65-F5344CB8AC3E}">
        <p14:creationId xmlns:p14="http://schemas.microsoft.com/office/powerpoint/2010/main" val="3841768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1113</TotalTime>
  <Words>1231</Words>
  <Application>Microsoft Macintosh PowerPoint</Application>
  <PresentationFormat>On-screen Show (4:3)</PresentationFormat>
  <Paragraphs>88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Constantia</vt:lpstr>
      <vt:lpstr>Times New Roman</vt:lpstr>
      <vt:lpstr>Wingdings 2</vt:lpstr>
      <vt:lpstr>Flow</vt:lpstr>
      <vt:lpstr>PowerPoint Presentation</vt:lpstr>
      <vt:lpstr>Presentation Outline</vt:lpstr>
      <vt:lpstr>Abstract</vt:lpstr>
      <vt:lpstr>Introduction</vt:lpstr>
      <vt:lpstr>Proposed approach</vt:lpstr>
      <vt:lpstr>PowerPoint Presentation</vt:lpstr>
      <vt:lpstr>PowerPoint Presentation</vt:lpstr>
      <vt:lpstr>Work flow</vt:lpstr>
      <vt:lpstr>Recommendation system </vt:lpstr>
      <vt:lpstr>PowerPoint Presentation</vt:lpstr>
      <vt:lpstr>Data Sets</vt:lpstr>
      <vt:lpstr>Results and Discussion </vt:lpstr>
      <vt:lpstr>Conclusion</vt:lpstr>
      <vt:lpstr>References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Pisciculture User Recommendation System  (SPURS)</dc:title>
  <dc:creator>Aki</dc:creator>
  <cp:lastModifiedBy>Kesava Satish Boppana</cp:lastModifiedBy>
  <cp:revision>72</cp:revision>
  <dcterms:created xsi:type="dcterms:W3CDTF">2023-02-20T05:14:07Z</dcterms:created>
  <dcterms:modified xsi:type="dcterms:W3CDTF">2024-04-24T07:27:53Z</dcterms:modified>
</cp:coreProperties>
</file>